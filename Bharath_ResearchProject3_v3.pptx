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07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Vytautas Magnus University  |  Faculty of Informatics  |  Research Project III – Final Defence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/ Unlocking Decision System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Person Identity Recognition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2487168"/>
            <a:ext cx="566928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Neelakrishnan  (MIF240018)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299923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Prof. Dr. Audrius Zajančkauskas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30752"/>
            <a:ext cx="8595360" cy="1188720"/>
          </a:xfrm>
          <a:prstGeom prst="rect">
            <a:avLst/>
          </a:prstGeom>
        </p:spPr>
      </p:pic>
      <p:pic>
        <p:nvPicPr>
          <p:cNvPr id="10" name="20210429054424!VDU_logo.png" descr="20210429054424!VDU_logo.png">
            <a:extLst>
              <a:ext uri="{FF2B5EF4-FFF2-40B4-BE49-F238E27FC236}">
                <a16:creationId xmlns:a16="http://schemas.microsoft.com/office/drawing/2014/main" id="{41BBBB9B-2C01-3B91-AFC9-C47D8B19E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0" y="4846320"/>
            <a:ext cx="640080" cy="0"/>
          </a:xfrm>
          <a:prstGeom prst="line">
            <a:avLst/>
          </a:prstGeom>
          <a:noFill/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2057400" cy="150876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8229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4.88M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82880" y="146304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per breach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19933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713232"/>
            <a:ext cx="2057400" cy="150876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23160" y="8229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days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23160" y="146304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contain a breach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19933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13232"/>
            <a:ext cx="2057400" cy="1508760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8229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663440" y="146304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start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9933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2024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713232"/>
            <a:ext cx="2057400" cy="1508760"/>
          </a:xfrm>
          <a:prstGeom prst="rect">
            <a:avLst/>
          </a:prstGeom>
          <a:solidFill>
            <a:srgbClr val="5F7A4A"/>
          </a:solidFill>
          <a:ln w="12700">
            <a:solidFill>
              <a:srgbClr val="5F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03720" y="8229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903720" y="146304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affected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2023 alone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19933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ITRC 2024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2450592"/>
            <a:ext cx="8778240" cy="2743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2578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fail — 59% of users reuse passwords; phishing accounts for 70% of credential theft.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" y="32644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Single-modal biometrics degrade — face recognition loses accuracy under variable lighting; voice fails in noisy conditions.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" y="39502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reduces account compromise risk by up to 99.9% over single-factor methods.</a:t>
            </a:r>
            <a:endParaRPr lang="en-US" sz="1400" dirty="0"/>
          </a:p>
        </p:txBody>
      </p:sp>
      <p:pic>
        <p:nvPicPr>
          <p:cNvPr id="26" name="20210429054424!VDU_logo.png" descr="20210429054424!VDU_logo.png">
            <a:extLst>
              <a:ext uri="{FF2B5EF4-FFF2-40B4-BE49-F238E27FC236}">
                <a16:creationId xmlns:a16="http://schemas.microsoft.com/office/drawing/2014/main" id="{37D4AA76-90A7-951D-60A5-E3CF0FBA0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Tasks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0" y="4846320"/>
            <a:ext cx="640080" cy="0"/>
          </a:xfrm>
          <a:prstGeom prst="line">
            <a:avLst/>
          </a:prstGeom>
          <a:noFill/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685800"/>
            <a:ext cx="8778240" cy="822960"/>
          </a:xfrm>
          <a:prstGeom prst="rect">
            <a:avLst/>
          </a:prstGeom>
          <a:solidFill>
            <a:srgbClr val="F4EDE5"/>
          </a:solidFill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731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9326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evaluate, compare, and integrate classical face recognition algorithms into a multi-factor person identity recognition system that produces a reliable binary locking or unlocking decision.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64592" y="1709928"/>
            <a:ext cx="384048" cy="384048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72821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709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literature (2020-2025): face recognition, multi-factor auth, score-level fusion, KBA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64592" y="2715768"/>
            <a:ext cx="384048" cy="38404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273405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27157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Eigenfaces, Fisherfaces, LBPH on AT&amp;amp;T/ORL, Extended Yale-B, LFW — 314 identities, 7,138 images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64592" y="3721608"/>
            <a:ext cx="384048" cy="38404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37398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" y="37216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voice authentication on VoxCeleb1 — 1,251 speakers, 37,720 verification trials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45152" y="1709928"/>
            <a:ext cx="384048" cy="384048"/>
          </a:xfrm>
          <a:prstGeom prst="rect">
            <a:avLst/>
          </a:prstGeom>
          <a:solidFill>
            <a:srgbClr val="5F7A4A"/>
          </a:solidFill>
          <a:ln w="12700">
            <a:solidFill>
              <a:srgbClr val="5F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172821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1709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session-contextual KBA module with dynamically generated questions per login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645152" y="2715768"/>
            <a:ext cx="384048" cy="384048"/>
          </a:xfrm>
          <a:prstGeom prst="rect">
            <a:avLst/>
          </a:prstGeom>
          <a:solidFill>
            <a:srgbClr val="A0845C"/>
          </a:solidFill>
          <a:ln w="12700">
            <a:solidFill>
              <a:srgbClr val="A084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273405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0640" y="27157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define WSR fusion model; derive module weights from full dataset accuracy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645152" y="3721608"/>
            <a:ext cx="384048" cy="384048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3739896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20640" y="37216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modules; evaluate complete system across 3,454 authentication trials</a:t>
            </a:r>
            <a:endParaRPr lang="en-US" sz="1250" dirty="0"/>
          </a:p>
        </p:txBody>
      </p:sp>
      <p:pic>
        <p:nvPicPr>
          <p:cNvPr id="27" name="20210429054424!VDU_logo.png" descr="20210429054424!VDU_logo.png">
            <a:extLst>
              <a:ext uri="{FF2B5EF4-FFF2-40B4-BE49-F238E27FC236}">
                <a16:creationId xmlns:a16="http://schemas.microsoft.com/office/drawing/2014/main" id="{BD2267E1-F47C-F2F4-25A8-8F64ED71EB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0" y="4846320"/>
            <a:ext cx="640080" cy="0"/>
          </a:xfrm>
          <a:prstGeom prst="line">
            <a:avLst/>
          </a:prstGeom>
          <a:noFill/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594360"/>
            <a:ext cx="32918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66160" y="658368"/>
            <a:ext cx="64008" cy="7772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721608" y="685800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AT&amp;amp;T / ORL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21608" y="1024128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subjects  |  400 images  |  92×112 px  |  Controlled baseline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66160" y="1645920"/>
            <a:ext cx="64008" cy="7772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721608" y="1673352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Yale-B (cropped)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21608" y="2011680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subjects  |  2,414 images  |  192×168 px  |  64 illumination conditions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566160" y="2633472"/>
            <a:ext cx="64008" cy="777240"/>
          </a:xfrm>
          <a:prstGeom prst="rect">
            <a:avLst/>
          </a:prstGeom>
          <a:solidFill>
            <a:srgbClr val="5F7A4A"/>
          </a:solidFill>
          <a:ln w="12700">
            <a:solidFill>
              <a:srgbClr val="5F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721608" y="2660904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(restricted ≥10 imgs)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21608" y="2999232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subjects  |  4,324 images  |  250×250 px  |  Unconstrained real-world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566160" y="3621024"/>
            <a:ext cx="64008" cy="777240"/>
          </a:xfrm>
          <a:prstGeom prst="rect">
            <a:avLst/>
          </a:prstGeom>
          <a:solidFill>
            <a:srgbClr val="A0845C"/>
          </a:solidFill>
          <a:ln w="12700">
            <a:solidFill>
              <a:srgbClr val="A084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721608" y="3648456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VoxCeleb1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721608" y="3986784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1,251 subjects  |  153,516 utterances  |  Audio WAV  |  37,720 verification trials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publicly available. Download links and complete loading code provided in Appendix B of the report.</a:t>
            </a:r>
            <a:endParaRPr lang="en-US" sz="1000" dirty="0"/>
          </a:p>
        </p:txBody>
      </p:sp>
      <p:pic>
        <p:nvPicPr>
          <p:cNvPr id="20" name="20210429054424!VDU_logo.png" descr="20210429054424!VDU_logo.png">
            <a:extLst>
              <a:ext uri="{FF2B5EF4-FFF2-40B4-BE49-F238E27FC236}">
                <a16:creationId xmlns:a16="http://schemas.microsoft.com/office/drawing/2014/main" id="{64BE5601-805C-6AD7-CA2D-C5D1F0D58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Results — Algorithm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0" y="4846320"/>
            <a:ext cx="640080" cy="0"/>
          </a:xfrm>
          <a:prstGeom prst="line">
            <a:avLst/>
          </a:prstGeom>
          <a:noFill/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21792"/>
            <a:ext cx="71323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658368"/>
            <a:ext cx="1572768" cy="960120"/>
          </a:xfrm>
          <a:prstGeom prst="rect">
            <a:avLst/>
          </a:prstGeom>
          <a:solidFill>
            <a:srgbClr val="5F7A4A"/>
          </a:solidFill>
          <a:ln w="12700">
            <a:solidFill>
              <a:srgbClr val="5F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452360" y="72237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452360" y="1225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6/8 criteria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52360" y="1773936"/>
            <a:ext cx="1572768" cy="96012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452360" y="183794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52360" y="234086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FAR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52360" y="2889504"/>
            <a:ext cx="1572768" cy="960120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452360" y="295351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452360" y="345643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std dev (stability)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3511296"/>
            <a:ext cx="8778240" cy="1170432"/>
          </a:xfrm>
          <a:prstGeom prst="rect">
            <a:avLst/>
          </a:prstGeom>
        </p:spPr>
      </p:pic>
      <p:pic>
        <p:nvPicPr>
          <p:cNvPr id="17" name="20210429054424!VDU_logo.png" descr="20210429054424!VDU_logo.png">
            <a:extLst>
              <a:ext uri="{FF2B5EF4-FFF2-40B4-BE49-F238E27FC236}">
                <a16:creationId xmlns:a16="http://schemas.microsoft.com/office/drawing/2014/main" id="{80A5DCBA-C13F-E7BB-C497-D09A2BA6B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— Illumination Robustness (Extended Yale-B)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0" y="4846320"/>
            <a:ext cx="640080" cy="0"/>
          </a:xfrm>
          <a:prstGeom prst="line">
            <a:avLst/>
          </a:prstGeom>
          <a:noFill/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21792"/>
            <a:ext cx="749808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658368"/>
            <a:ext cx="1298448" cy="91440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726680" y="70408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6680" y="98755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 pp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26680" y="1316736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26680" y="1737360"/>
            <a:ext cx="1298448" cy="9144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726680" y="178308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Fisherfaces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26680" y="20665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 pp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26680" y="2395728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26680" y="2816352"/>
            <a:ext cx="1298448" cy="914400"/>
          </a:xfrm>
          <a:prstGeom prst="rect">
            <a:avLst/>
          </a:prstGeom>
          <a:solidFill>
            <a:srgbClr val="5F7A4A"/>
          </a:solidFill>
          <a:ln w="12700">
            <a:solidFill>
              <a:srgbClr val="5F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726680" y="28620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26680" y="314553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pp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726680" y="34747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Subsets 1-3 (0-50°)  |  Test: Subsets 4-5 (51°+)  |  LBPH codes encode relative pixel intensity — unaffected by uniform brightness changes.</a:t>
            </a:r>
            <a:endParaRPr lang="en-US" sz="1000" dirty="0"/>
          </a:p>
        </p:txBody>
      </p:sp>
      <p:pic>
        <p:nvPicPr>
          <p:cNvPr id="20" name="20210429054424!VDU_logo.png" descr="20210429054424!VDU_logo.png">
            <a:extLst>
              <a:ext uri="{FF2B5EF4-FFF2-40B4-BE49-F238E27FC236}">
                <a16:creationId xmlns:a16="http://schemas.microsoft.com/office/drawing/2014/main" id="{B1582BED-8B72-99DD-0690-EE60CC3F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System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0" y="4846320"/>
            <a:ext cx="640080" cy="0"/>
          </a:xfrm>
          <a:prstGeom prst="line">
            <a:avLst/>
          </a:prstGeom>
          <a:noFill/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21792"/>
            <a:ext cx="71323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658368"/>
            <a:ext cx="1572768" cy="960120"/>
          </a:xfrm>
          <a:prstGeom prst="rect">
            <a:avLst/>
          </a:prstGeom>
          <a:solidFill>
            <a:srgbClr val="5F7A4A"/>
          </a:solidFill>
          <a:ln w="12700">
            <a:solidFill>
              <a:srgbClr val="5F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452360" y="72237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452360" y="12161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Accuracy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52360" y="1773936"/>
            <a:ext cx="1572768" cy="96012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452360" y="1837944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52360" y="23317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Accept Rate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52360" y="2889504"/>
            <a:ext cx="1572768" cy="960120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452360" y="295351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0/314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452360" y="34472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Impostors passed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modules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w_face=0.332, w_voice=0.321, w_KBA=0.347  |  Threshold θ=0.60 at EER operating point  |  Total: 3,454 authentication trials</a:t>
            </a:r>
            <a:endParaRPr lang="en-US" sz="1000" dirty="0"/>
          </a:p>
        </p:txBody>
      </p:sp>
      <p:pic>
        <p:nvPicPr>
          <p:cNvPr id="17" name="20210429054424!VDU_logo.png" descr="20210429054424!VDU_logo.png">
            <a:extLst>
              <a:ext uri="{FF2B5EF4-FFF2-40B4-BE49-F238E27FC236}">
                <a16:creationId xmlns:a16="http://schemas.microsoft.com/office/drawing/2014/main" id="{56931692-7B8F-98FE-1DBF-017B31902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Results and Conclusions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0" y="4846320"/>
            <a:ext cx="640080" cy="0"/>
          </a:xfrm>
          <a:prstGeom prst="line">
            <a:avLst/>
          </a:prstGeom>
          <a:noFill/>
          <a:ln w="1905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64008" cy="7772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7406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— most illumination-robust classical 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 weighted mean accuracy across 314 subjects; 7.6 pp accuracy drop vs 25.8 pp for Eigenfaces on Extended Yale-B.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2880" y="1719072"/>
            <a:ext cx="64008" cy="7772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module evaluated at scale on VoxCeleb1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2103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37,720 trials, 1,251 speakers; EER 10.9% with MFCC — consistent with published classical baselines.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2880" y="2724912"/>
            <a:ext cx="64008" cy="777240"/>
          </a:xfrm>
          <a:prstGeom prst="rect">
            <a:avLst/>
          </a:prstGeom>
          <a:solidFill>
            <a:srgbClr val="5F7A4A"/>
          </a:solidFill>
          <a:ln w="12700">
            <a:solidFill>
              <a:srgbClr val="5F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75234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KBA: zero impostor success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" y="3108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314 impostor trials passed the KBA module using session-contextual questions regenerated per login.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82880" y="3730752"/>
            <a:ext cx="64008" cy="777240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375818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fusion outperforms every individual modality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" y="41148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 accuracy, 1.3% FAR, 1.7% EER — 3.5 pp FAR improvement over best single modality (KBA alone at 4.8%).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replace MFCC with x-vector model (target EER &lt; 2%)  |  add liveness detection  |  extend KBA evaluation to public benchmark.</a:t>
            </a:r>
            <a:endParaRPr lang="en-US" sz="1000" dirty="0"/>
          </a:p>
        </p:txBody>
      </p:sp>
      <p:pic>
        <p:nvPicPr>
          <p:cNvPr id="19" name="20210429054424!VDU_logo.png" descr="20210429054424!VDU_logo.png">
            <a:extLst>
              <a:ext uri="{FF2B5EF4-FFF2-40B4-BE49-F238E27FC236}">
                <a16:creationId xmlns:a16="http://schemas.microsoft.com/office/drawing/2014/main" id="{B846D908-977F-13D9-A9DE-2FE204477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Vytautas Magnus University  |  Faculty of Informatics  |  Research Project III – Final Defence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Neelakrishnan  |  MIF240018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Audrius Zajančkauskas</a:t>
            </a:r>
            <a:endParaRPr lang="en-US" sz="1400" dirty="0"/>
          </a:p>
        </p:txBody>
      </p:sp>
      <p:pic>
        <p:nvPicPr>
          <p:cNvPr id="8" name="20210429054424!VDU_logo.png" descr="20210429054424!VDU_logo.png">
            <a:extLst>
              <a:ext uri="{FF2B5EF4-FFF2-40B4-BE49-F238E27FC236}">
                <a16:creationId xmlns:a16="http://schemas.microsoft.com/office/drawing/2014/main" id="{3FDCC33D-6A1D-5125-31E6-683FCE39B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346" y="28806"/>
            <a:ext cx="1492228" cy="564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639</Words>
  <Application>Microsoft Office PowerPoint</Application>
  <PresentationFormat>On-screen Show (16:9)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Bharath Neelakrishnan</cp:lastModifiedBy>
  <cp:revision>2</cp:revision>
  <dcterms:created xsi:type="dcterms:W3CDTF">2026-05-27T09:48:13Z</dcterms:created>
  <dcterms:modified xsi:type="dcterms:W3CDTF">2026-05-27T09:51:36Z</dcterms:modified>
</cp:coreProperties>
</file>